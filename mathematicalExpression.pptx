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EC42D-D027-653C-0FD0-5249CCF83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65512C-7DCA-2EC6-A8CC-A98190424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8976CD-5B53-D127-A27D-841B7E164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0BAE76-C7F1-EB99-A1F0-66F7407FD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138546-28E1-44C0-4312-6BC701D0C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39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0FD33-6430-252E-982E-7A049D721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FE8D17-D002-5B08-E176-FE8852FE6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60C0CF-2D8E-0E35-9126-0983B2647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17C6E6-D115-CDCE-45B4-32A9FE0D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737009-707C-49AA-8627-39CD187D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131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4D0A5-4AE1-3C9B-856E-2F6DAA5E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435BD0-0A11-C7F8-3F60-C83867544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D0145F-B149-4375-DFD1-CC60F0DB6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14B54-7FF7-49CD-3ED8-CF516E53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82D03D-0760-D904-4C2A-A2217807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42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84A08-D898-6ADE-2189-015481AA1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38D9FC-6ED4-EFF8-F0AA-760EA41FD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C5EC24-19A4-7DB3-693D-13CD48F01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25D09D-C8E4-1239-CA48-B404D46B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3EC09E-BC00-ACD1-5C69-1DB5D619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BD0BFC-8FC6-85EE-607B-D2C4C2290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388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D72B8-0886-17F8-89CA-BB32D5CE7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B9E7CB-92EC-D70A-7075-021A86844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3E76A0-1901-0E39-C689-CDE271604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834F18-C79A-89F7-2124-67A386461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EAAF6C-81A1-48F9-CDA9-882658DFC5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3F6A62-830F-577A-DE3A-7BF8B3DD6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C40E8B-0BF1-3C74-BB30-C36FD7080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51D86E-8E56-A616-6510-8FB6953E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91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3F22A-9748-FD49-C663-3B47A3406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D3F4C6-CEC2-739B-8DE1-6820BC1E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139BE1-2180-6C2C-1B55-3135841F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0AD179-4EB2-A590-A78E-21047AFFD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780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9B2B359-362D-FD2C-C856-543E4923E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F67CB9F-B18E-65CF-D571-F8BAEC73C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E937E2-784A-E3DD-B5BE-1C958A52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14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AC90E-3E49-EDCF-5D41-FF257ADF5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246999-C4FE-AF4F-2501-9A506F91E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B518B8-A4B9-29F9-ABFC-5C64308A9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F0BCAB-3D19-E191-2472-59015299F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1A2EEA-C04F-DF35-D643-188A86094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EB9B8C-0374-7B07-E7A0-AFC17952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35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80614-A4D7-ECB1-3F36-F7F313AED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AC4570-AC43-891F-478E-F3688E553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967F6A-D65D-5E76-A120-CB4BE99E3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EA8CB4-B615-E178-1CF4-726EF865D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0EC472-70AB-6629-1215-2BEA495A5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D0D958-D059-9933-C8B0-3D2B64908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22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48EA7-BD6E-6ABB-2B68-2005359B7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4895FA-1162-270A-B75C-6640DF583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69DD64-33BE-EA07-645A-7AC02BF5E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7980C-AE4D-B79B-3964-DD17291D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CA27D-9FF7-7123-9742-DBF68A2A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14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E7CC621-A1B4-8830-637D-83FA0D1BC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8F6359-6DB1-74D9-9753-0D130186F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8E3EE-3C10-EBCD-8FD0-633DC2CA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EE523B-0081-03CC-AEE3-7E54AAEA0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617F4F-013F-3CB3-7320-6FB39BA3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874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2CD2DD-3509-5635-E36F-F3BC46588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E7F0C-D273-1607-A537-031985F69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368ED-A249-9192-2739-FC4319FC4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D64671-00E3-4622-8CA2-2E4DC6B2F75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EFBED5-9B63-D873-B4D8-585818526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CC232A-B705-4C2D-959E-F48461B34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56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5F6A6A-EC01-DD91-01C7-D537332C3042}"/>
                  </a:ext>
                </a:extLst>
              </p:cNvPr>
              <p:cNvSpPr txBox="1"/>
              <p:nvPr/>
            </p:nvSpPr>
            <p:spPr>
              <a:xfrm>
                <a:off x="1734107" y="1382221"/>
                <a:ext cx="199738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40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4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ko-KR" sz="4000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5F6A6A-EC01-DD91-01C7-D537332C3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107" y="1382221"/>
                <a:ext cx="1997384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E1C6A9-941B-C508-C52D-759D18D8C29F}"/>
                  </a:ext>
                </a:extLst>
              </p:cNvPr>
              <p:cNvSpPr txBox="1"/>
              <p:nvPr/>
            </p:nvSpPr>
            <p:spPr>
              <a:xfrm>
                <a:off x="1458730" y="2862790"/>
                <a:ext cx="2716721" cy="749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E1C6A9-941B-C508-C52D-759D18D8C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730" y="2862790"/>
                <a:ext cx="2716721" cy="749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8CA0C6-F31C-4429-767A-A9ED8A4D3336}"/>
                  </a:ext>
                </a:extLst>
              </p:cNvPr>
              <p:cNvSpPr txBox="1"/>
              <p:nvPr/>
            </p:nvSpPr>
            <p:spPr>
              <a:xfrm>
                <a:off x="955492" y="4791825"/>
                <a:ext cx="3723195" cy="548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𝑛𝑥</m:t>
                          </m:r>
                        </m:num>
                        <m:den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8CA0C6-F31C-4429-767A-A9ED8A4D3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492" y="4791825"/>
                <a:ext cx="3723195" cy="548640"/>
              </a:xfrm>
              <a:prstGeom prst="rect">
                <a:avLst/>
              </a:prstGeom>
              <a:blipFill>
                <a:blip r:embed="rId4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4CA7BB-CF33-D9A0-5923-9D1A763AC035}"/>
                  </a:ext>
                </a:extLst>
              </p:cNvPr>
              <p:cNvSpPr txBox="1"/>
              <p:nvPr/>
            </p:nvSpPr>
            <p:spPr>
              <a:xfrm>
                <a:off x="6895505" y="1316013"/>
                <a:ext cx="4238371" cy="7479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altLang="ko-KR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func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altLang="ko-KR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4CA7BB-CF33-D9A0-5923-9D1A763AC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505" y="1316013"/>
                <a:ext cx="4238371" cy="747967"/>
              </a:xfrm>
              <a:prstGeom prst="rect">
                <a:avLst/>
              </a:prstGeom>
              <a:blipFill>
                <a:blip r:embed="rId5"/>
                <a:stretch>
                  <a:fillRect b="-8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388FEA-1E09-26DD-3F0B-E556526F7B52}"/>
                  </a:ext>
                </a:extLst>
              </p:cNvPr>
              <p:cNvSpPr txBox="1"/>
              <p:nvPr/>
            </p:nvSpPr>
            <p:spPr>
              <a:xfrm>
                <a:off x="8468519" y="3100185"/>
                <a:ext cx="181459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388FEA-1E09-26DD-3F0B-E556526F7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519" y="3100185"/>
                <a:ext cx="1814599" cy="369332"/>
              </a:xfrm>
              <a:prstGeom prst="rect">
                <a:avLst/>
              </a:prstGeom>
              <a:blipFill>
                <a:blip r:embed="rId6"/>
                <a:stretch>
                  <a:fillRect l="-671" b="-1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38144A-D24B-BB81-34D9-2F980794F7C9}"/>
                  </a:ext>
                </a:extLst>
              </p:cNvPr>
              <p:cNvSpPr txBox="1"/>
              <p:nvPr/>
            </p:nvSpPr>
            <p:spPr>
              <a:xfrm>
                <a:off x="8353102" y="4699858"/>
                <a:ext cx="2045432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38144A-D24B-BB81-34D9-2F980794F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102" y="4699858"/>
                <a:ext cx="2045432" cy="7325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7421E24-C47C-3372-A2CD-280C7DFFB79C}"/>
              </a:ext>
            </a:extLst>
          </p:cNvPr>
          <p:cNvSpPr txBox="1"/>
          <p:nvPr/>
        </p:nvSpPr>
        <p:spPr>
          <a:xfrm>
            <a:off x="5017170" y="378691"/>
            <a:ext cx="1878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PPTX </a:t>
            </a:r>
            <a:r>
              <a:rPr lang="ko-KR" altLang="en-US" dirty="0"/>
              <a:t>기호 삽입 </a:t>
            </a:r>
          </a:p>
        </p:txBody>
      </p:sp>
    </p:spTree>
    <p:extLst>
      <p:ext uri="{BB962C8B-B14F-4D97-AF65-F5344CB8AC3E}">
        <p14:creationId xmlns:p14="http://schemas.microsoft.com/office/powerpoint/2010/main" val="1820582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80553B-D8A1-C088-7520-76E2648A51D5}"/>
              </a:ext>
            </a:extLst>
          </p:cNvPr>
          <p:cNvSpPr txBox="1"/>
          <p:nvPr/>
        </p:nvSpPr>
        <p:spPr>
          <a:xfrm>
            <a:off x="2558473" y="3177309"/>
            <a:ext cx="4667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2</a:t>
            </a:r>
            <a:endParaRPr lang="ko-KR" alt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45429-1C51-BFAA-A942-00CE36B70A58}"/>
              </a:ext>
            </a:extLst>
          </p:cNvPr>
          <p:cNvSpPr txBox="1"/>
          <p:nvPr/>
        </p:nvSpPr>
        <p:spPr>
          <a:xfrm>
            <a:off x="2879233" y="308494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3A90CD-ED62-CCBC-73BE-0961266C47D7}"/>
              </a:ext>
            </a:extLst>
          </p:cNvPr>
          <p:cNvSpPr txBox="1"/>
          <p:nvPr/>
        </p:nvSpPr>
        <p:spPr>
          <a:xfrm>
            <a:off x="2937164" y="508000"/>
            <a:ext cx="5718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별도의 텍스트 상자에 </a:t>
            </a:r>
            <a:r>
              <a:rPr lang="en-US" altLang="ko-KR" dirty="0"/>
              <a:t>*</a:t>
            </a:r>
            <a:r>
              <a:rPr lang="ko-KR" altLang="en-US" dirty="0"/>
              <a:t>디자인</a:t>
            </a:r>
            <a:r>
              <a:rPr lang="en-US" altLang="ko-KR" dirty="0"/>
              <a:t>*</a:t>
            </a:r>
            <a:r>
              <a:rPr lang="ko-KR" altLang="en-US" dirty="0"/>
              <a:t>으로 수식 표현한 경우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E841D7-3CEF-2542-64B4-7B84FDF0DACF}"/>
              </a:ext>
            </a:extLst>
          </p:cNvPr>
          <p:cNvSpPr txBox="1"/>
          <p:nvPr/>
        </p:nvSpPr>
        <p:spPr>
          <a:xfrm>
            <a:off x="7282542" y="3084946"/>
            <a:ext cx="2699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1 0 0   1 0 0</a:t>
            </a:r>
          </a:p>
          <a:p>
            <a:r>
              <a:rPr lang="en-US" altLang="ko-KR" dirty="0"/>
              <a:t>0 1 0 </a:t>
            </a:r>
            <a:r>
              <a:rPr lang="ko-KR" altLang="en-US" dirty="0"/>
              <a:t>〮 </a:t>
            </a:r>
            <a:r>
              <a:rPr lang="en-US" altLang="ko-KR" dirty="0"/>
              <a:t>0 1 0</a:t>
            </a:r>
          </a:p>
          <a:p>
            <a:r>
              <a:rPr lang="en-US" altLang="ko-KR" dirty="0"/>
              <a:t>0 0 1   0 0 1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7637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2B140-5CB4-3C0F-1E0A-828C3A032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72C6D0-41D8-4051-CF3F-E5C0F871FD19}"/>
              </a:ext>
            </a:extLst>
          </p:cNvPr>
          <p:cNvSpPr txBox="1"/>
          <p:nvPr/>
        </p:nvSpPr>
        <p:spPr>
          <a:xfrm>
            <a:off x="4715012" y="307474"/>
            <a:ext cx="276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latex</a:t>
            </a:r>
            <a:r>
              <a:rPr lang="ko-KR" altLang="en-US" dirty="0"/>
              <a:t>로 수식 표현한 경우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89E8C7-AAC2-AB0D-9DE7-F8C74A8B3919}"/>
                  </a:ext>
                </a:extLst>
              </p:cNvPr>
              <p:cNvSpPr txBox="1"/>
              <p:nvPr/>
            </p:nvSpPr>
            <p:spPr>
              <a:xfrm>
                <a:off x="362506" y="1203566"/>
                <a:ext cx="3199843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400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ko-KR" sz="4000" i="1" smtClean="0">
                          <a:latin typeface="Cambria Math" panose="02040503050406030204" pitchFamily="18" charset="0"/>
                        </a:rPr>
                        <m:t>=\</m:t>
                      </m:r>
                      <m:r>
                        <m:rPr>
                          <m:sty m:val="p"/>
                        </m:rPr>
                        <a:rPr lang="el-GR" altLang="ko-KR" sz="4000" i="1" smtClean="0">
                          <a:latin typeface="Cambria Math" panose="02040503050406030204" pitchFamily="18" charset="0"/>
                        </a:rPr>
                        <m:t>pi</m:t>
                      </m:r>
                      <m:r>
                        <a:rPr lang="en-US" altLang="ko-KR" sz="4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400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altLang="ko-KR" sz="4000" i="1" smtClean="0">
                          <a:latin typeface="Cambria Math" panose="02040503050406030204" pitchFamily="18" charset="0"/>
                        </a:rPr>
                        <m:t>^</m:t>
                      </m:r>
                      <m:r>
                        <a:rPr lang="en-US" altLang="ko-KR" sz="400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ko-KR" altLang="en-US" sz="4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89E8C7-AAC2-AB0D-9DE7-F8C74A8B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06" y="1203566"/>
                <a:ext cx="3199843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90BB41-2A51-526F-79EE-C8E8CB05649E}"/>
                  </a:ext>
                </a:extLst>
              </p:cNvPr>
              <p:cNvSpPr txBox="1"/>
              <p:nvPr/>
            </p:nvSpPr>
            <p:spPr>
              <a:xfrm>
                <a:off x="165586" y="2145353"/>
                <a:ext cx="67935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left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)^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sum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_{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=0}^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}{\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binom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^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ka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^{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-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90BB41-2A51-526F-79EE-C8E8CB056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6" y="2145353"/>
                <a:ext cx="6793526" cy="276999"/>
              </a:xfrm>
              <a:prstGeom prst="rect">
                <a:avLst/>
              </a:prstGeom>
              <a:blipFill>
                <a:blip r:embed="rId3"/>
                <a:stretch>
                  <a:fillRect l="-538" r="-628" b="-4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4B9E6A-9577-BE5E-3544-DC62041EE7DA}"/>
                  </a:ext>
                </a:extLst>
              </p:cNvPr>
              <p:cNvSpPr txBox="1"/>
              <p:nvPr/>
            </p:nvSpPr>
            <p:spPr>
              <a:xfrm>
                <a:off x="165586" y="2748586"/>
                <a:ext cx="83259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left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)^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=1+\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frac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}{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1!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+\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frac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left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-1\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^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}{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2!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+\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ldots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4B9E6A-9577-BE5E-3544-DC62041EE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6" y="2748586"/>
                <a:ext cx="8325997" cy="276999"/>
              </a:xfrm>
              <a:prstGeom prst="rect">
                <a:avLst/>
              </a:prstGeom>
              <a:blipFill>
                <a:blip r:embed="rId4"/>
                <a:stretch>
                  <a:fillRect l="-366" r="-73" b="-4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8735DE-A926-B2A1-8068-516280EF0F6D}"/>
                  </a:ext>
                </a:extLst>
              </p:cNvPr>
              <p:cNvSpPr txBox="1"/>
              <p:nvPr/>
            </p:nvSpPr>
            <p:spPr>
              <a:xfrm>
                <a:off x="165586" y="3447223"/>
                <a:ext cx="111392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left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0+\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sum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_{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=1}^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infty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left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0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frac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pi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0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frac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pi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8735DE-A926-B2A1-8068-516280EF0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6" y="3447223"/>
                <a:ext cx="11139268" cy="276999"/>
              </a:xfrm>
              <a:prstGeom prst="rect">
                <a:avLst/>
              </a:prstGeom>
              <a:blipFill>
                <a:blip r:embed="rId5"/>
                <a:stretch>
                  <a:fillRect r="-219" b="-413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155B9A-DA10-C71B-E20E-D9BCF39D3A87}"/>
                  </a:ext>
                </a:extLst>
              </p:cNvPr>
              <p:cNvSpPr txBox="1"/>
              <p:nvPr/>
            </p:nvSpPr>
            <p:spPr>
              <a:xfrm>
                <a:off x="438944" y="4145860"/>
                <a:ext cx="23500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altLang="ko-KR" sz="240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^</m:t>
                      </m:r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2+</m:t>
                      </m:r>
                      <m:r>
                        <m:rPr>
                          <m:sty m:val="p"/>
                        </m:rPr>
                        <a:rPr lang="pt-BR" altLang="ko-KR" sz="240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^</m:t>
                      </m:r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2=</m:t>
                      </m:r>
                      <m:r>
                        <m:rPr>
                          <m:sty m:val="p"/>
                        </m:rPr>
                        <a:rPr lang="pt-BR" altLang="ko-KR" sz="240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^</m:t>
                      </m:r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155B9A-DA10-C71B-E20E-D9BCF39D3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44" y="4145860"/>
                <a:ext cx="2350002" cy="369332"/>
              </a:xfrm>
              <a:prstGeom prst="rect">
                <a:avLst/>
              </a:prstGeom>
              <a:blipFill>
                <a:blip r:embed="rId6"/>
                <a:stretch>
                  <a:fillRect l="-259" r="-2073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9ACA78-7B3F-829D-BD33-10D428806996}"/>
                  </a:ext>
                </a:extLst>
              </p:cNvPr>
              <p:cNvSpPr txBox="1"/>
              <p:nvPr/>
            </p:nvSpPr>
            <p:spPr>
              <a:xfrm>
                <a:off x="165586" y="5377435"/>
                <a:ext cx="122982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begin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matrix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}1&amp;0&amp;0\\0&amp;1&amp;0\\0&amp;0&amp;1\\\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end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matrix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}\ \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bullet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 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begin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matrix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}1&amp;0&amp;0\\0&amp;1&amp;0\\0&amp;0&amp;1\\\</m:t>
                    </m:r>
                    <m:r>
                      <m:rPr>
                        <m:sty m:val="p"/>
                      </m:rP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end</m:t>
                    </m:r>
                    <m: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matrix</m:t>
                    </m:r>
                    <m: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9ACA78-7B3F-829D-BD33-10D428806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6" y="5377435"/>
                <a:ext cx="12298238" cy="276999"/>
              </a:xfrm>
              <a:prstGeom prst="rect">
                <a:avLst/>
              </a:prstGeom>
              <a:blipFill>
                <a:blip r:embed="rId7"/>
                <a:stretch>
                  <a:fillRect l="-892" b="-413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226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FAD2C-E334-40C2-B6F4-8F5BF67FC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이차방정식 근의 공식 완벽 이해">
            <a:extLst>
              <a:ext uri="{FF2B5EF4-FFF2-40B4-BE49-F238E27FC236}">
                <a16:creationId xmlns:a16="http://schemas.microsoft.com/office/drawing/2014/main" id="{7D8F6C2E-73AE-C3A5-1D2C-F9F23615F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909" y="1385455"/>
            <a:ext cx="3343275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5D4CD1-1B7D-8F85-5153-9E91DF6DE0C7}"/>
              </a:ext>
            </a:extLst>
          </p:cNvPr>
          <p:cNvSpPr txBox="1"/>
          <p:nvPr/>
        </p:nvSpPr>
        <p:spPr>
          <a:xfrm>
            <a:off x="4715012" y="307474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이미지로 수식 표현한 경우</a:t>
            </a:r>
          </a:p>
        </p:txBody>
      </p:sp>
      <p:pic>
        <p:nvPicPr>
          <p:cNvPr id="1028" name="Picture 4" descr="Matrix란 무엇인가? - 머신러닝">
            <a:extLst>
              <a:ext uri="{FF2B5EF4-FFF2-40B4-BE49-F238E27FC236}">
                <a16:creationId xmlns:a16="http://schemas.microsoft.com/office/drawing/2014/main" id="{1EEB7CE3-BB25-AF39-C8A7-C57EC0C89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681" y="3196411"/>
            <a:ext cx="3563730" cy="1809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27. 매클로린 급수의 신비에 대해 알아보자! - 튜나편입">
            <a:extLst>
              <a:ext uri="{FF2B5EF4-FFF2-40B4-BE49-F238E27FC236}">
                <a16:creationId xmlns:a16="http://schemas.microsoft.com/office/drawing/2014/main" id="{5F4246C9-0445-C5BA-F68C-498AB5F21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684" y="2483304"/>
            <a:ext cx="3686175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998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244</Words>
  <Application>Microsoft Office PowerPoint</Application>
  <PresentationFormat>와이드스크린</PresentationFormat>
  <Paragraphs>21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이인성</dc:creator>
  <cp:lastModifiedBy>이인성</cp:lastModifiedBy>
  <cp:revision>1</cp:revision>
  <dcterms:created xsi:type="dcterms:W3CDTF">2026-03-09T07:28:31Z</dcterms:created>
  <dcterms:modified xsi:type="dcterms:W3CDTF">2026-03-09T07:53:28Z</dcterms:modified>
</cp:coreProperties>
</file>